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slides/slide1.xml" ContentType="application/vnd.openxmlformats-officedocument.presentationml.slide+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696262C-6DEE-47A4-B74D-06553E50CF6C}"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B4122B6-F0E0-4C8F-8392-09648A5B36B5}"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504000" y="1326600"/>
            <a:ext cx="9071640" cy="328824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91286FF-EE23-4465-9FF4-4FBD77C6A14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E2DBEDD-163D-453E-80C7-E644BD2FE026}"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7CA658F5-8613-4C55-A0DC-BE2E054423BD}"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04000" y="226080"/>
            <a:ext cx="9071640" cy="438840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29E5A238-ABF1-464F-A161-ACCD4DC79538}"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515268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BE0D1EE-C31A-4732-830E-ACC78297AA70}"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504000" y="1326600"/>
            <a:ext cx="4426920" cy="328824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6F33F9C5-6C42-47AB-A9EC-A70A1372CD83}"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42A52FD-A173-4F6C-9A1E-85E581B9A2A6}"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504000" y="132660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504000" y="3044160"/>
            <a:ext cx="9071640" cy="15681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1909DCCD-3063-4232-9B68-A45501867F19}"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50400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5152680" y="132660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50400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5152680" y="3044160"/>
            <a:ext cx="4426920" cy="156816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B31B3F10-FC95-4EC3-A9BA-1BA661F19C7F}"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5040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357120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6638040" y="132660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5040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357120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6638040" y="3044160"/>
            <a:ext cx="2920680" cy="156816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3391AAFA-48A7-4F03-AB12-2C3BC3ADB736}"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a:t>
            </a:r>
            <a:r>
              <a:rPr b="0" lang="en-US" sz="3200" spc="-1" strike="noStrike">
                <a:latin typeface="Arial"/>
              </a:rPr>
              <a:t>the outline </a:t>
            </a:r>
            <a:r>
              <a:rPr b="0" lang="en-US" sz="3200" spc="-1" strike="noStrike">
                <a:latin typeface="Arial"/>
              </a:rPr>
              <a:t>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a:t>
            </a:r>
            <a:r>
              <a:rPr b="0" lang="en-US" sz="2800" spc="-1" strike="noStrike">
                <a:latin typeface="Arial"/>
              </a:rPr>
              <a:t>Outline </a:t>
            </a:r>
            <a:r>
              <a:rPr b="0" lang="en-US" sz="2800" spc="-1" strike="noStrike">
                <a:latin typeface="Arial"/>
              </a:rPr>
              <a:t>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a:t>
            </a:r>
            <a:r>
              <a:rPr b="0" lang="en-US" sz="2400" spc="-1" strike="noStrike">
                <a:latin typeface="Arial"/>
              </a:rPr>
              <a:t>Outline </a:t>
            </a:r>
            <a:r>
              <a:rPr b="0" lang="en-US" sz="2400" spc="-1" strike="noStrike">
                <a:latin typeface="Arial"/>
              </a:rPr>
              <a:t>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a:t>
            </a:r>
            <a:r>
              <a:rPr b="0" lang="en-US" sz="2000" spc="-1" strike="noStrike">
                <a:latin typeface="Arial"/>
              </a:rPr>
              <a:t>Outline </a:t>
            </a:r>
            <a:r>
              <a:rPr b="0" lang="en-US" sz="2000" spc="-1" strike="noStrike">
                <a:latin typeface="Arial"/>
              </a:rPr>
              <a:t>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a:t>
            </a:r>
            <a:r>
              <a:rPr b="0" lang="en-US" sz="2000" spc="-1" strike="noStrike">
                <a:latin typeface="Arial"/>
              </a:rPr>
              <a:t>Outlin</a:t>
            </a:r>
            <a:r>
              <a:rPr b="0" lang="en-US" sz="2000" spc="-1" strike="noStrike">
                <a:latin typeface="Arial"/>
              </a:rPr>
              <a:t>e </a:t>
            </a:r>
            <a:r>
              <a:rPr b="0" lang="en-US" sz="2000" spc="-1" strike="noStrike">
                <a:latin typeface="Arial"/>
              </a:rPr>
              <a:t>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a:t>
            </a:r>
            <a:r>
              <a:rPr b="0" lang="en-US" sz="2000" spc="-1" strike="noStrike">
                <a:latin typeface="Arial"/>
              </a:rPr>
              <a:t>xt</a:t>
            </a:r>
            <a:r>
              <a:rPr b="0" lang="en-US" sz="2000" spc="-1" strike="noStrike">
                <a:latin typeface="Arial"/>
              </a:rPr>
              <a:t>h </a:t>
            </a:r>
            <a:r>
              <a:rPr b="0" lang="en-US" sz="2000" spc="-1" strike="noStrike">
                <a:latin typeface="Arial"/>
              </a:rPr>
              <a:t>O</a:t>
            </a:r>
            <a:r>
              <a:rPr b="0" lang="en-US" sz="2000" spc="-1" strike="noStrike">
                <a:latin typeface="Arial"/>
              </a:rPr>
              <a:t>utl</a:t>
            </a:r>
            <a:r>
              <a:rPr b="0" lang="en-US" sz="2000" spc="-1" strike="noStrike">
                <a:latin typeface="Arial"/>
              </a:rPr>
              <a:t>in</a:t>
            </a:r>
            <a:r>
              <a:rPr b="0" lang="en-US" sz="2000" spc="-1" strike="noStrike">
                <a:latin typeface="Arial"/>
              </a:rPr>
              <a:t>e </a:t>
            </a:r>
            <a:r>
              <a:rPr b="0" lang="en-US" sz="2000" spc="-1" strike="noStrike">
                <a:latin typeface="Arial"/>
              </a:rPr>
              <a:t>Le</a:t>
            </a:r>
            <a:r>
              <a:rPr b="0" lang="en-US" sz="2000" spc="-1" strike="noStrike">
                <a:latin typeface="Arial"/>
              </a:rPr>
              <a:t>ve</a:t>
            </a:r>
            <a:r>
              <a:rPr b="0" lang="en-US" sz="2000" spc="-1" strike="noStrike">
                <a:latin typeface="Arial"/>
              </a:rPr>
              <a:t>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a:t>
            </a:r>
            <a:r>
              <a:rPr b="0" lang="en-US" sz="2000" spc="-1" strike="noStrike">
                <a:latin typeface="Arial"/>
              </a:rPr>
              <a:t>e</a:t>
            </a:r>
            <a:r>
              <a:rPr b="0" lang="en-US" sz="2000" spc="-1" strike="noStrike">
                <a:latin typeface="Arial"/>
              </a:rPr>
              <a:t>v</a:t>
            </a:r>
            <a:r>
              <a:rPr b="0" lang="en-US" sz="2000" spc="-1" strike="noStrike">
                <a:latin typeface="Arial"/>
              </a:rPr>
              <a:t>e</a:t>
            </a:r>
            <a:r>
              <a:rPr b="0" lang="en-US" sz="2000" spc="-1" strike="noStrike">
                <a:latin typeface="Arial"/>
              </a:rPr>
              <a:t>n</a:t>
            </a:r>
            <a:r>
              <a:rPr b="0" lang="en-US" sz="2000" spc="-1" strike="noStrike">
                <a:latin typeface="Arial"/>
              </a:rPr>
              <a:t>t</a:t>
            </a:r>
            <a:r>
              <a:rPr b="0" lang="en-US" sz="2000" spc="-1" strike="noStrike">
                <a:latin typeface="Arial"/>
              </a:rPr>
              <a:t>h</a:t>
            </a:r>
            <a:r>
              <a:rPr b="0" lang="en-US" sz="2000" spc="-1" strike="noStrike">
                <a:latin typeface="Arial"/>
              </a:rPr>
              <a:t> </a:t>
            </a:r>
            <a:r>
              <a:rPr b="0" lang="en-US" sz="2000" spc="-1" strike="noStrike">
                <a:latin typeface="Arial"/>
              </a:rPr>
              <a:t>O</a:t>
            </a:r>
            <a:r>
              <a:rPr b="0" lang="en-US" sz="2000" spc="-1" strike="noStrike">
                <a:latin typeface="Arial"/>
              </a:rPr>
              <a:t>u</a:t>
            </a:r>
            <a:r>
              <a:rPr b="0" lang="en-US" sz="2000" spc="-1" strike="noStrike">
                <a:latin typeface="Arial"/>
              </a:rPr>
              <a:t>t</a:t>
            </a:r>
            <a:r>
              <a:rPr b="0" lang="en-US" sz="2000" spc="-1" strike="noStrike">
                <a:latin typeface="Arial"/>
              </a:rPr>
              <a:t>l</a:t>
            </a:r>
            <a:r>
              <a:rPr b="0" lang="en-US" sz="2000" spc="-1" strike="noStrike">
                <a:latin typeface="Arial"/>
              </a:rPr>
              <a:t>i</a:t>
            </a:r>
            <a:r>
              <a:rPr b="0" lang="en-US" sz="2000" spc="-1" strike="noStrike">
                <a:latin typeface="Arial"/>
              </a:rPr>
              <a:t>n</a:t>
            </a:r>
            <a:r>
              <a:rPr b="0" lang="en-US" sz="2000" spc="-1" strike="noStrike">
                <a:latin typeface="Arial"/>
              </a:rPr>
              <a:t>e</a:t>
            </a:r>
            <a:r>
              <a:rPr b="0" lang="en-US" sz="2000" spc="-1" strike="noStrike">
                <a:latin typeface="Arial"/>
              </a:rPr>
              <a:t> </a:t>
            </a:r>
            <a:r>
              <a:rPr b="0" lang="en-US" sz="2000" spc="-1" strike="noStrike">
                <a:latin typeface="Arial"/>
              </a:rPr>
              <a:t>L</a:t>
            </a:r>
            <a:r>
              <a:rPr b="0" lang="en-US" sz="2000" spc="-1" strike="noStrike">
                <a:latin typeface="Arial"/>
              </a:rPr>
              <a:t>e</a:t>
            </a:r>
            <a:r>
              <a:rPr b="0" lang="en-US" sz="2000" spc="-1" strike="noStrike">
                <a:latin typeface="Arial"/>
              </a:rPr>
              <a:t>v</a:t>
            </a:r>
            <a:r>
              <a:rPr b="0" lang="en-US" sz="2000" spc="-1" strike="noStrike">
                <a:latin typeface="Arial"/>
              </a:rPr>
              <a:t>e</a:t>
            </a:r>
            <a:r>
              <a:rPr b="0" lang="en-US" sz="2000" spc="-1" strike="noStrike">
                <a:latin typeface="Arial"/>
              </a:rPr>
              <a:t>l</a:t>
            </a:r>
            <a:endParaRPr b="0" lang="en-US" sz="2000" spc="-1" strike="noStrike">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fld id="{4C467D52-0CCF-44E8-BB4F-EB55CB061092}"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504000" y="226080"/>
            <a:ext cx="9071640" cy="688320"/>
          </a:xfrm>
          <a:prstGeom prst="rect">
            <a:avLst/>
          </a:prstGeom>
          <a:noFill/>
          <a:ln w="0">
            <a:noFill/>
          </a:ln>
        </p:spPr>
        <p:txBody>
          <a:bodyPr lIns="0" rIns="0" tIns="0" bIns="0" anchor="ctr">
            <a:noAutofit/>
          </a:bodyPr>
          <a:p>
            <a:pPr algn="ctr">
              <a:buNone/>
            </a:pPr>
            <a:r>
              <a:rPr b="0" lang="en-US" sz="2800" spc="-1" strike="noStrike">
                <a:latin typeface="DejaVu Sans"/>
              </a:rPr>
              <a:t>QNX ROS2 IMU Demo Overview</a:t>
            </a:r>
            <a:endParaRPr b="0" lang="en-US" sz="2800" spc="-1" strike="noStrike">
              <a:latin typeface="DejaVu Sans"/>
            </a:endParaRPr>
          </a:p>
        </p:txBody>
      </p:sp>
      <p:pic>
        <p:nvPicPr>
          <p:cNvPr id="42" name="" descr=""/>
          <p:cNvPicPr/>
          <p:nvPr/>
        </p:nvPicPr>
        <p:blipFill>
          <a:blip r:embed="rId1"/>
          <a:srcRect l="0" t="9776" r="0" b="12583"/>
          <a:stretch/>
        </p:blipFill>
        <p:spPr>
          <a:xfrm>
            <a:off x="7086600" y="3923280"/>
            <a:ext cx="2286000" cy="1142640"/>
          </a:xfrm>
          <a:prstGeom prst="rect">
            <a:avLst/>
          </a:prstGeom>
          <a:ln w="19080">
            <a:solidFill>
              <a:srgbClr val="00a933"/>
            </a:solidFill>
            <a:round/>
          </a:ln>
          <a:effectLst>
            <a:outerShdw dist="53966" dir="2700000" blurRad="0" rotWithShape="0">
              <a:srgbClr val="dddddd"/>
            </a:outerShdw>
          </a:effectLst>
        </p:spPr>
      </p:pic>
      <p:pic>
        <p:nvPicPr>
          <p:cNvPr id="43" name="" descr=""/>
          <p:cNvPicPr/>
          <p:nvPr/>
        </p:nvPicPr>
        <p:blipFill>
          <a:blip r:embed="rId2">
            <a:alphaModFix amt="53000"/>
          </a:blip>
          <a:srcRect l="0" t="0" r="0" b="11354"/>
          <a:stretch/>
        </p:blipFill>
        <p:spPr>
          <a:xfrm>
            <a:off x="7086600" y="2659680"/>
            <a:ext cx="2286000" cy="1142640"/>
          </a:xfrm>
          <a:prstGeom prst="rect">
            <a:avLst/>
          </a:prstGeom>
          <a:ln w="19080">
            <a:solidFill>
              <a:srgbClr val="000000"/>
            </a:solidFill>
            <a:round/>
          </a:ln>
          <a:effectLst>
            <a:outerShdw dist="53966" dir="2700000" blurRad="0" rotWithShape="0">
              <a:srgbClr val="dddddd">
                <a:alpha val="57000"/>
              </a:srgbClr>
            </a:outerShdw>
          </a:effectLst>
        </p:spPr>
      </p:pic>
      <p:pic>
        <p:nvPicPr>
          <p:cNvPr id="44" name="" descr=""/>
          <p:cNvPicPr/>
          <p:nvPr/>
        </p:nvPicPr>
        <p:blipFill>
          <a:blip r:embed="rId3">
            <a:alphaModFix amt="53000"/>
          </a:blip>
          <a:stretch/>
        </p:blipFill>
        <p:spPr>
          <a:xfrm>
            <a:off x="7086600" y="1569960"/>
            <a:ext cx="2286000" cy="969120"/>
          </a:xfrm>
          <a:prstGeom prst="rect">
            <a:avLst/>
          </a:prstGeom>
          <a:ln w="19080">
            <a:solidFill>
              <a:srgbClr val="000000"/>
            </a:solidFill>
            <a:round/>
          </a:ln>
          <a:effectLst>
            <a:outerShdw dist="53966" dir="2700000" blurRad="0" rotWithShape="0">
              <a:srgbClr val="dddddd">
                <a:alpha val="0"/>
              </a:srgbClr>
            </a:outerShdw>
          </a:effectLst>
        </p:spPr>
      </p:pic>
      <p:sp>
        <p:nvSpPr>
          <p:cNvPr id="45" name=""/>
          <p:cNvSpPr txBox="1"/>
          <p:nvPr/>
        </p:nvSpPr>
        <p:spPr>
          <a:xfrm>
            <a:off x="7567200" y="1143000"/>
            <a:ext cx="1371600" cy="373680"/>
          </a:xfrm>
          <a:prstGeom prst="rect">
            <a:avLst/>
          </a:prstGeom>
          <a:noFill/>
          <a:ln w="0">
            <a:noFill/>
          </a:ln>
        </p:spPr>
        <p:txBody>
          <a:bodyPr lIns="90000" rIns="90000" tIns="45000" bIns="45000" anchor="t">
            <a:noAutofit/>
          </a:bodyPr>
          <a:p>
            <a:pPr algn="ctr">
              <a:buNone/>
            </a:pPr>
            <a:r>
              <a:rPr b="1" lang="en-US" sz="2000" spc="-1" strike="noStrike">
                <a:latin typeface="Arial"/>
              </a:rPr>
              <a:t>Layers</a:t>
            </a:r>
            <a:endParaRPr b="1" lang="en-US" sz="2000" spc="-1" strike="noStrike">
              <a:latin typeface="Arial"/>
            </a:endParaRPr>
          </a:p>
        </p:txBody>
      </p:sp>
      <p:sp>
        <p:nvSpPr>
          <p:cNvPr id="46" name=""/>
          <p:cNvSpPr txBox="1"/>
          <p:nvPr/>
        </p:nvSpPr>
        <p:spPr>
          <a:xfrm>
            <a:off x="457200" y="1143000"/>
            <a:ext cx="6400800" cy="4114800"/>
          </a:xfrm>
          <a:prstGeom prst="rect">
            <a:avLst/>
          </a:prstGeom>
          <a:noFill/>
          <a:ln w="0">
            <a:noFill/>
          </a:ln>
        </p:spPr>
        <p:txBody>
          <a:bodyPr lIns="0" rIns="0" tIns="0" bIns="0" anchor="t">
            <a:noAutofit/>
          </a:bodyPr>
          <a:p>
            <a:pPr marL="216000" indent="-216000">
              <a:buClr>
                <a:srgbClr val="000000"/>
              </a:buClr>
              <a:buSzPct val="45000"/>
              <a:buFont typeface="Wingdings" charset="2"/>
              <a:buChar char=""/>
            </a:pPr>
            <a:r>
              <a:rPr b="1" lang="en-US" sz="1400" spc="-1" strike="noStrike">
                <a:latin typeface="Arial"/>
              </a:rPr>
              <a:t>There are 3 main layers on the raspberry pi - the QNX layer, the ROS2 layer, and the python scripts with the IMU code</a:t>
            </a:r>
            <a:endParaRPr b="1" lang="en-US" sz="1400" spc="-1" strike="noStrike">
              <a:latin typeface="Arial"/>
            </a:endParaRPr>
          </a:p>
          <a:p>
            <a:pPr marL="216000" indent="-216000">
              <a:buClr>
                <a:srgbClr val="000000"/>
              </a:buClr>
              <a:buSzPct val="45000"/>
              <a:buFont typeface="Wingdings" charset="2"/>
              <a:buChar char=""/>
            </a:pPr>
            <a:endParaRPr b="1" lang="en-US" sz="1400" spc="-1" strike="noStrike">
              <a:latin typeface="Arial"/>
            </a:endParaRPr>
          </a:p>
          <a:p>
            <a:pPr marL="216000" indent="-216000">
              <a:buClr>
                <a:srgbClr val="000000"/>
              </a:buClr>
              <a:buSzPct val="45000"/>
              <a:buFont typeface="Wingdings" charset="2"/>
              <a:buChar char=""/>
            </a:pPr>
            <a:r>
              <a:rPr b="1" lang="en-US" sz="1400" spc="-1" strike="noStrike">
                <a:latin typeface="Arial"/>
              </a:rPr>
              <a:t>QNX is the operating system which provides real-time capability on the raspberry pi</a:t>
            </a:r>
            <a:endParaRPr b="1" lang="en-US" sz="1400" spc="-1" strike="noStrike">
              <a:latin typeface="Arial"/>
            </a:endParaRPr>
          </a:p>
          <a:p>
            <a:pPr marL="216000" indent="-216000">
              <a:buClr>
                <a:srgbClr val="000000"/>
              </a:buClr>
              <a:buSzPct val="45000"/>
              <a:buFont typeface="Wingdings" charset="2"/>
              <a:buChar char=""/>
            </a:pPr>
            <a:endParaRPr b="1" lang="en-US" sz="1400" spc="-1" strike="noStrike">
              <a:latin typeface="Arial"/>
            </a:endParaRPr>
          </a:p>
          <a:p>
            <a:pPr marL="216000" indent="-216000">
              <a:buClr>
                <a:srgbClr val="000000"/>
              </a:buClr>
              <a:buSzPct val="45000"/>
              <a:buFont typeface="Wingdings" charset="2"/>
              <a:buChar char=""/>
            </a:pPr>
            <a:r>
              <a:rPr b="1" lang="en-US" sz="1400" spc="-1" strike="noStrike">
                <a:latin typeface="Arial"/>
              </a:rPr>
              <a:t>Linux is not a real time system. This means that QNX guarantees that critical tasks like sensor polling or control loops happen in precise time limits. It does this through:</a:t>
            </a:r>
            <a:endParaRPr b="1" lang="en-US" sz="1400" spc="-1" strike="noStrike">
              <a:latin typeface="Arial"/>
            </a:endParaRPr>
          </a:p>
          <a:p>
            <a:pPr marL="216000" indent="-216000">
              <a:buClr>
                <a:srgbClr val="000000"/>
              </a:buClr>
              <a:buSzPct val="45000"/>
              <a:buFont typeface="Wingdings" charset="2"/>
              <a:buChar char=""/>
            </a:pPr>
            <a:endParaRPr b="1" lang="en-US" sz="1400" spc="-1" strike="noStrike">
              <a:latin typeface="Arial"/>
            </a:endParaRPr>
          </a:p>
          <a:p>
            <a:pPr lvl="3" marL="864000" indent="-216000">
              <a:buClr>
                <a:srgbClr val="000000"/>
              </a:buClr>
              <a:buFont typeface="StarSymbol"/>
              <a:buAutoNum type="arabicPeriod"/>
            </a:pPr>
            <a:r>
              <a:rPr b="1" lang="en-US" sz="1400" spc="-1" strike="noStrike">
                <a:latin typeface="Arial"/>
              </a:rPr>
              <a:t>A microkernel architecture: only the essential kernel runs in privileged mode, everything else like drivers/filesystems/networking run as separate user space processes</a:t>
            </a:r>
            <a:endParaRPr b="1" lang="en-US" sz="1400" spc="-1" strike="noStrike">
              <a:latin typeface="Arial"/>
            </a:endParaRPr>
          </a:p>
          <a:p>
            <a:pPr lvl="3" marL="864000" indent="-216000">
              <a:buClr>
                <a:srgbClr val="000000"/>
              </a:buClr>
              <a:buFont typeface="StarSymbol"/>
              <a:buAutoNum type="arabicPeriod"/>
            </a:pPr>
            <a:endParaRPr b="1" lang="en-US" sz="1400" spc="-1" strike="noStrike">
              <a:latin typeface="Arial"/>
            </a:endParaRPr>
          </a:p>
          <a:p>
            <a:pPr lvl="3" marL="864000" indent="-216000">
              <a:buClr>
                <a:srgbClr val="000000"/>
              </a:buClr>
              <a:buFont typeface="StarSymbol"/>
              <a:buAutoNum type="arabicPeriod"/>
            </a:pPr>
            <a:r>
              <a:rPr b="1" lang="en-US" sz="1400" spc="-1" strike="noStrike">
                <a:latin typeface="Arial"/>
              </a:rPr>
              <a:t>Priority based schedule means that higher priority tasks always run first which avoids latency spikes</a:t>
            </a:r>
            <a:endParaRPr b="1" lang="en-US" sz="1400" spc="-1" strike="noStrike">
              <a:latin typeface="Arial"/>
            </a:endParaRPr>
          </a:p>
          <a:p>
            <a:pPr lvl="3" marL="864000" indent="-216000">
              <a:buClr>
                <a:srgbClr val="000000"/>
              </a:buClr>
              <a:buFont typeface="StarSymbol"/>
              <a:buAutoNum type="arabicPeriod"/>
            </a:pPr>
            <a:endParaRPr b="1" lang="en-US" sz="1400" spc="-1" strike="noStrike">
              <a:latin typeface="Arial"/>
            </a:endParaRPr>
          </a:p>
          <a:p>
            <a:pPr lvl="3" marL="864000" indent="-216000">
              <a:buClr>
                <a:srgbClr val="000000"/>
              </a:buClr>
              <a:buFont typeface="StarSymbol"/>
              <a:buAutoNum type="arabicPeriod"/>
            </a:pPr>
            <a:r>
              <a:rPr b="1" lang="en-US" sz="1400" spc="-1" strike="noStrike">
                <a:latin typeface="Arial"/>
              </a:rPr>
              <a:t>Deterministic message passing which means that inter process communication is predictable and bounded in time. </a:t>
            </a:r>
            <a:endParaRPr b="1" lang="en-US" sz="1400" spc="-1" strike="noStrike">
              <a:latin typeface="Arial"/>
            </a:endParaRPr>
          </a:p>
        </p:txBody>
      </p:sp>
      <p:sp>
        <p:nvSpPr>
          <p:cNvPr id="47" name=""/>
          <p:cNvSpPr/>
          <p:nvPr/>
        </p:nvSpPr>
        <p:spPr>
          <a:xfrm>
            <a:off x="7086600" y="1569960"/>
            <a:ext cx="2286000" cy="969120"/>
          </a:xfrm>
          <a:prstGeom prst="rect">
            <a:avLst/>
          </a:prstGeom>
          <a:solidFill>
            <a:srgbClr val="666666">
              <a:alpha val="89000"/>
            </a:srgbClr>
          </a:solidFill>
          <a:ln w="0">
            <a:solidFill>
              <a:srgbClr val="3465a4"/>
            </a:solidFill>
          </a:ln>
        </p:spPr>
        <p:style>
          <a:lnRef idx="0"/>
          <a:fillRef idx="0"/>
          <a:effectRef idx="0"/>
          <a:fontRef idx="minor"/>
        </p:style>
      </p:sp>
      <p:sp>
        <p:nvSpPr>
          <p:cNvPr id="48" name=""/>
          <p:cNvSpPr/>
          <p:nvPr/>
        </p:nvSpPr>
        <p:spPr>
          <a:xfrm>
            <a:off x="7086600" y="2659680"/>
            <a:ext cx="2286000" cy="1142640"/>
          </a:xfrm>
          <a:prstGeom prst="rect">
            <a:avLst/>
          </a:prstGeom>
          <a:solidFill>
            <a:srgbClr val="666666">
              <a:alpha val="89000"/>
            </a:srgbClr>
          </a:solidFill>
          <a:ln w="0">
            <a:solidFill>
              <a:srgbClr val="3465a4"/>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1640" cy="688320"/>
          </a:xfrm>
          <a:prstGeom prst="rect">
            <a:avLst/>
          </a:prstGeom>
          <a:noFill/>
          <a:ln w="0">
            <a:noFill/>
          </a:ln>
        </p:spPr>
        <p:txBody>
          <a:bodyPr lIns="0" rIns="0" tIns="0" bIns="0" anchor="ctr">
            <a:noAutofit/>
          </a:bodyPr>
          <a:p>
            <a:pPr algn="ctr">
              <a:buNone/>
            </a:pPr>
            <a:r>
              <a:rPr b="0" lang="en-US" sz="2800" spc="-1" strike="noStrike">
                <a:latin typeface="DejaVu Sans"/>
              </a:rPr>
              <a:t>QNX ROS2 IMU Demo Overview</a:t>
            </a:r>
            <a:endParaRPr b="0" lang="en-US" sz="2800" spc="-1" strike="noStrike">
              <a:latin typeface="DejaVu Sans"/>
            </a:endParaRPr>
          </a:p>
        </p:txBody>
      </p:sp>
      <p:pic>
        <p:nvPicPr>
          <p:cNvPr id="50" name="" descr=""/>
          <p:cNvPicPr/>
          <p:nvPr/>
        </p:nvPicPr>
        <p:blipFill>
          <a:blip r:embed="rId1"/>
          <a:srcRect l="0" t="9776" r="0" b="12583"/>
          <a:stretch/>
        </p:blipFill>
        <p:spPr>
          <a:xfrm>
            <a:off x="7086600" y="3923280"/>
            <a:ext cx="2286000" cy="1142640"/>
          </a:xfrm>
          <a:prstGeom prst="rect">
            <a:avLst/>
          </a:prstGeom>
          <a:ln w="19080">
            <a:solidFill>
              <a:srgbClr val="000000"/>
            </a:solidFill>
            <a:round/>
          </a:ln>
          <a:effectLst>
            <a:outerShdw dist="53966" dir="2700000" blurRad="0" rotWithShape="0">
              <a:srgbClr val="dddddd"/>
            </a:outerShdw>
          </a:effectLst>
        </p:spPr>
      </p:pic>
      <p:pic>
        <p:nvPicPr>
          <p:cNvPr id="51" name="" descr=""/>
          <p:cNvPicPr/>
          <p:nvPr/>
        </p:nvPicPr>
        <p:blipFill>
          <a:blip r:embed="rId2"/>
          <a:srcRect l="0" t="0" r="0" b="11354"/>
          <a:stretch/>
        </p:blipFill>
        <p:spPr>
          <a:xfrm>
            <a:off x="7086600" y="2659680"/>
            <a:ext cx="2286000" cy="1142640"/>
          </a:xfrm>
          <a:prstGeom prst="rect">
            <a:avLst/>
          </a:prstGeom>
          <a:ln w="19080">
            <a:solidFill>
              <a:srgbClr val="00a933"/>
            </a:solidFill>
            <a:round/>
          </a:ln>
          <a:effectLst>
            <a:outerShdw dist="53966" dir="2700000" blurRad="0" rotWithShape="0">
              <a:srgbClr val="dddddd">
                <a:alpha val="57000"/>
              </a:srgbClr>
            </a:outerShdw>
          </a:effectLst>
        </p:spPr>
      </p:pic>
      <p:pic>
        <p:nvPicPr>
          <p:cNvPr id="52" name="" descr=""/>
          <p:cNvPicPr/>
          <p:nvPr/>
        </p:nvPicPr>
        <p:blipFill>
          <a:blip r:embed="rId3"/>
          <a:stretch/>
        </p:blipFill>
        <p:spPr>
          <a:xfrm>
            <a:off x="7086600" y="1569960"/>
            <a:ext cx="2286000" cy="969120"/>
          </a:xfrm>
          <a:prstGeom prst="rect">
            <a:avLst/>
          </a:prstGeom>
          <a:ln w="19080">
            <a:solidFill>
              <a:srgbClr val="000000"/>
            </a:solidFill>
            <a:round/>
          </a:ln>
          <a:effectLst>
            <a:outerShdw dist="53966" dir="2700000" blurRad="0" rotWithShape="0">
              <a:srgbClr val="dddddd">
                <a:alpha val="0"/>
              </a:srgbClr>
            </a:outerShdw>
          </a:effectLst>
        </p:spPr>
      </p:pic>
      <p:sp>
        <p:nvSpPr>
          <p:cNvPr id="53" name=""/>
          <p:cNvSpPr txBox="1"/>
          <p:nvPr/>
        </p:nvSpPr>
        <p:spPr>
          <a:xfrm>
            <a:off x="7567200" y="1143000"/>
            <a:ext cx="1371600" cy="373680"/>
          </a:xfrm>
          <a:prstGeom prst="rect">
            <a:avLst/>
          </a:prstGeom>
          <a:noFill/>
          <a:ln w="0">
            <a:noFill/>
          </a:ln>
        </p:spPr>
        <p:txBody>
          <a:bodyPr lIns="90000" rIns="90000" tIns="45000" bIns="45000" anchor="t">
            <a:noAutofit/>
          </a:bodyPr>
          <a:p>
            <a:pPr algn="ctr">
              <a:buNone/>
            </a:pPr>
            <a:r>
              <a:rPr b="1" lang="en-US" sz="2000" spc="-1" strike="noStrike">
                <a:latin typeface="Arial"/>
              </a:rPr>
              <a:t>Layers</a:t>
            </a:r>
            <a:endParaRPr b="1" lang="en-US" sz="2000" spc="-1" strike="noStrike">
              <a:latin typeface="Arial"/>
            </a:endParaRPr>
          </a:p>
        </p:txBody>
      </p:sp>
      <p:sp>
        <p:nvSpPr>
          <p:cNvPr id="54" name=""/>
          <p:cNvSpPr txBox="1"/>
          <p:nvPr/>
        </p:nvSpPr>
        <p:spPr>
          <a:xfrm>
            <a:off x="457200" y="1143000"/>
            <a:ext cx="6400800" cy="4114800"/>
          </a:xfrm>
          <a:prstGeom prst="rect">
            <a:avLst/>
          </a:prstGeom>
          <a:noFill/>
          <a:ln w="0">
            <a:noFill/>
          </a:ln>
        </p:spPr>
        <p:txBody>
          <a:bodyPr lIns="0" rIns="0" tIns="0" bIns="0" anchor="t">
            <a:noAutofit/>
          </a:bodyPr>
          <a:p>
            <a:pPr marL="216000" indent="-216000">
              <a:buClr>
                <a:srgbClr val="000000"/>
              </a:buClr>
              <a:buSzPct val="45000"/>
              <a:buFont typeface="Wingdings" charset="2"/>
              <a:buChar char=""/>
            </a:pPr>
            <a:r>
              <a:rPr b="1" lang="en-US" sz="1400" spc="-1" strike="noStrike">
                <a:latin typeface="Arial"/>
              </a:rPr>
              <a:t>ROS2 humble is our middleware layer that provides modular messaging and communication capabilities between processes (these are known as nodes). If you see the acronym DDS (data distribution service), this refers to the standard protocol used for all messaging which operates in a publish/subscribe fashion.</a:t>
            </a:r>
            <a:endParaRPr b="1" lang="en-US" sz="1400" spc="-1" strike="noStrike">
              <a:latin typeface="Arial"/>
            </a:endParaRPr>
          </a:p>
          <a:p>
            <a:pPr marL="216000" indent="-216000">
              <a:buClr>
                <a:srgbClr val="000000"/>
              </a:buClr>
              <a:buSzPct val="45000"/>
              <a:buFont typeface="Wingdings" charset="2"/>
              <a:buChar char=""/>
            </a:pPr>
            <a:endParaRPr b="1" lang="en-US" sz="1400" spc="-1" strike="noStrike">
              <a:latin typeface="Arial"/>
            </a:endParaRPr>
          </a:p>
          <a:p>
            <a:pPr marL="216000" indent="-216000">
              <a:buClr>
                <a:srgbClr val="000000"/>
              </a:buClr>
              <a:buSzPct val="45000"/>
              <a:buFont typeface="Wingdings" charset="2"/>
              <a:buChar char=""/>
            </a:pPr>
            <a:endParaRPr b="1" lang="en-US" sz="1400" spc="-1" strike="noStrike">
              <a:latin typeface="Arial"/>
            </a:endParaRPr>
          </a:p>
        </p:txBody>
      </p:sp>
      <p:sp>
        <p:nvSpPr>
          <p:cNvPr id="55" name=""/>
          <p:cNvSpPr/>
          <p:nvPr/>
        </p:nvSpPr>
        <p:spPr>
          <a:xfrm>
            <a:off x="7086600" y="3923280"/>
            <a:ext cx="2286000" cy="1142640"/>
          </a:xfrm>
          <a:prstGeom prst="rect">
            <a:avLst/>
          </a:prstGeom>
          <a:solidFill>
            <a:srgbClr val="666666">
              <a:alpha val="89000"/>
            </a:srgbClr>
          </a:solidFill>
          <a:ln w="0">
            <a:solidFill>
              <a:srgbClr val="3465a4"/>
            </a:solidFill>
          </a:ln>
        </p:spPr>
        <p:style>
          <a:lnRef idx="0"/>
          <a:fillRef idx="0"/>
          <a:effectRef idx="0"/>
          <a:fontRef idx="minor"/>
        </p:style>
      </p:sp>
      <p:sp>
        <p:nvSpPr>
          <p:cNvPr id="56" name=""/>
          <p:cNvSpPr/>
          <p:nvPr/>
        </p:nvSpPr>
        <p:spPr>
          <a:xfrm>
            <a:off x="7086600" y="1569960"/>
            <a:ext cx="2286000" cy="969120"/>
          </a:xfrm>
          <a:prstGeom prst="rect">
            <a:avLst/>
          </a:prstGeom>
          <a:solidFill>
            <a:srgbClr val="666666">
              <a:alpha val="89000"/>
            </a:srgbClr>
          </a:solidFill>
          <a:ln w="0">
            <a:solidFill>
              <a:srgbClr val="3465a4"/>
            </a:solid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71640" cy="688320"/>
          </a:xfrm>
          <a:prstGeom prst="rect">
            <a:avLst/>
          </a:prstGeom>
          <a:noFill/>
          <a:ln w="0">
            <a:noFill/>
          </a:ln>
        </p:spPr>
        <p:txBody>
          <a:bodyPr lIns="0" rIns="0" tIns="0" bIns="0" anchor="ctr">
            <a:noAutofit/>
          </a:bodyPr>
          <a:p>
            <a:pPr algn="ctr">
              <a:buNone/>
            </a:pPr>
            <a:r>
              <a:rPr b="0" lang="en-US" sz="2800" spc="-1" strike="noStrike">
                <a:latin typeface="DejaVu Sans"/>
              </a:rPr>
              <a:t>QNX ROS2 IMU Demo Overview</a:t>
            </a:r>
            <a:endParaRPr b="0" lang="en-US" sz="2800" spc="-1" strike="noStrike">
              <a:latin typeface="DejaVu Sans"/>
            </a:endParaRPr>
          </a:p>
        </p:txBody>
      </p:sp>
      <p:pic>
        <p:nvPicPr>
          <p:cNvPr id="58" name="" descr=""/>
          <p:cNvPicPr/>
          <p:nvPr/>
        </p:nvPicPr>
        <p:blipFill>
          <a:blip r:embed="rId1"/>
          <a:srcRect l="0" t="9776" r="0" b="12583"/>
          <a:stretch/>
        </p:blipFill>
        <p:spPr>
          <a:xfrm>
            <a:off x="7086600" y="3923280"/>
            <a:ext cx="2286000" cy="1142640"/>
          </a:xfrm>
          <a:prstGeom prst="rect">
            <a:avLst/>
          </a:prstGeom>
          <a:ln w="19080">
            <a:solidFill>
              <a:srgbClr val="000000"/>
            </a:solidFill>
            <a:round/>
          </a:ln>
          <a:effectLst>
            <a:outerShdw dist="53966" dir="2700000" blurRad="0" rotWithShape="0">
              <a:srgbClr val="dddddd"/>
            </a:outerShdw>
          </a:effectLst>
        </p:spPr>
      </p:pic>
      <p:pic>
        <p:nvPicPr>
          <p:cNvPr id="59" name="" descr=""/>
          <p:cNvPicPr/>
          <p:nvPr/>
        </p:nvPicPr>
        <p:blipFill>
          <a:blip r:embed="rId2"/>
          <a:srcRect l="0" t="0" r="0" b="11354"/>
          <a:stretch/>
        </p:blipFill>
        <p:spPr>
          <a:xfrm>
            <a:off x="7086600" y="2659680"/>
            <a:ext cx="2286000" cy="1142640"/>
          </a:xfrm>
          <a:prstGeom prst="rect">
            <a:avLst/>
          </a:prstGeom>
          <a:ln w="19080">
            <a:solidFill>
              <a:srgbClr val="000000"/>
            </a:solidFill>
            <a:round/>
          </a:ln>
          <a:effectLst>
            <a:outerShdw dist="53966" dir="2700000" blurRad="0" rotWithShape="0">
              <a:srgbClr val="dddddd">
                <a:alpha val="57000"/>
              </a:srgbClr>
            </a:outerShdw>
          </a:effectLst>
        </p:spPr>
      </p:pic>
      <p:pic>
        <p:nvPicPr>
          <p:cNvPr id="60" name="" descr=""/>
          <p:cNvPicPr/>
          <p:nvPr/>
        </p:nvPicPr>
        <p:blipFill>
          <a:blip r:embed="rId3"/>
          <a:stretch/>
        </p:blipFill>
        <p:spPr>
          <a:xfrm>
            <a:off x="7086600" y="1569960"/>
            <a:ext cx="2286000" cy="969120"/>
          </a:xfrm>
          <a:prstGeom prst="rect">
            <a:avLst/>
          </a:prstGeom>
          <a:ln w="19080">
            <a:solidFill>
              <a:srgbClr val="00a933"/>
            </a:solidFill>
            <a:round/>
          </a:ln>
          <a:effectLst>
            <a:outerShdw dist="53966" dir="2700000" blurRad="0" rotWithShape="0">
              <a:srgbClr val="dddddd">
                <a:alpha val="0"/>
              </a:srgbClr>
            </a:outerShdw>
          </a:effectLst>
        </p:spPr>
      </p:pic>
      <p:sp>
        <p:nvSpPr>
          <p:cNvPr id="61" name=""/>
          <p:cNvSpPr txBox="1"/>
          <p:nvPr/>
        </p:nvSpPr>
        <p:spPr>
          <a:xfrm>
            <a:off x="7567200" y="1143000"/>
            <a:ext cx="1371600" cy="373680"/>
          </a:xfrm>
          <a:prstGeom prst="rect">
            <a:avLst/>
          </a:prstGeom>
          <a:noFill/>
          <a:ln w="0">
            <a:noFill/>
          </a:ln>
        </p:spPr>
        <p:txBody>
          <a:bodyPr lIns="90000" rIns="90000" tIns="45000" bIns="45000" anchor="t">
            <a:noAutofit/>
          </a:bodyPr>
          <a:p>
            <a:pPr algn="ctr">
              <a:buNone/>
            </a:pPr>
            <a:r>
              <a:rPr b="1" lang="en-US" sz="2000" spc="-1" strike="noStrike">
                <a:latin typeface="Arial"/>
              </a:rPr>
              <a:t>Layers</a:t>
            </a:r>
            <a:endParaRPr b="1" lang="en-US" sz="2000" spc="-1" strike="noStrike">
              <a:latin typeface="Arial"/>
            </a:endParaRPr>
          </a:p>
        </p:txBody>
      </p:sp>
      <p:sp>
        <p:nvSpPr>
          <p:cNvPr id="62" name=""/>
          <p:cNvSpPr txBox="1"/>
          <p:nvPr/>
        </p:nvSpPr>
        <p:spPr>
          <a:xfrm>
            <a:off x="457200" y="1143000"/>
            <a:ext cx="6400800" cy="4114800"/>
          </a:xfrm>
          <a:prstGeom prst="rect">
            <a:avLst/>
          </a:prstGeom>
          <a:noFill/>
          <a:ln w="0">
            <a:noFill/>
          </a:ln>
        </p:spPr>
        <p:txBody>
          <a:bodyPr lIns="0" rIns="0" tIns="0" bIns="0" anchor="t">
            <a:noAutofit/>
          </a:bodyPr>
          <a:p>
            <a:pPr marL="216000" indent="-216000">
              <a:buClr>
                <a:srgbClr val="000000"/>
              </a:buClr>
              <a:buSzPct val="45000"/>
              <a:buFont typeface="Wingdings" charset="2"/>
              <a:buChar char=""/>
            </a:pPr>
            <a:r>
              <a:rPr b="1" lang="en-US" sz="1400" spc="-1" strike="noStrike">
                <a:latin typeface="Arial"/>
              </a:rPr>
              <a:t>Our demo (imu_pub.py and imu_sub.py) contains the application nodes using rclpy (the python library for ros2) and sensor_msgs</a:t>
            </a:r>
            <a:endParaRPr b="1" lang="en-US" sz="1400" spc="-1" strike="noStrike">
              <a:latin typeface="Arial"/>
            </a:endParaRPr>
          </a:p>
          <a:p>
            <a:pPr marL="216000" indent="-216000">
              <a:buClr>
                <a:srgbClr val="000000"/>
              </a:buClr>
              <a:buSzPct val="45000"/>
              <a:buFont typeface="Wingdings" charset="2"/>
              <a:buChar char=""/>
            </a:pPr>
            <a:endParaRPr b="1" lang="en-US" sz="1400" spc="-1" strike="noStrike">
              <a:latin typeface="Arial"/>
            </a:endParaRPr>
          </a:p>
          <a:p>
            <a:pPr marL="216000" indent="-216000">
              <a:buClr>
                <a:srgbClr val="000000"/>
              </a:buClr>
              <a:buSzPct val="45000"/>
              <a:buFont typeface="Wingdings" charset="2"/>
              <a:buChar char=""/>
            </a:pPr>
            <a:endParaRPr b="1" lang="en-US" sz="1400" spc="-1" strike="noStrike">
              <a:latin typeface="Arial"/>
            </a:endParaRPr>
          </a:p>
        </p:txBody>
      </p:sp>
      <p:sp>
        <p:nvSpPr>
          <p:cNvPr id="63" name=""/>
          <p:cNvSpPr/>
          <p:nvPr/>
        </p:nvSpPr>
        <p:spPr>
          <a:xfrm>
            <a:off x="7086600" y="3923280"/>
            <a:ext cx="2286000" cy="1142640"/>
          </a:xfrm>
          <a:prstGeom prst="rect">
            <a:avLst/>
          </a:prstGeom>
          <a:solidFill>
            <a:srgbClr val="666666">
              <a:alpha val="89000"/>
            </a:srgbClr>
          </a:solidFill>
          <a:ln w="0">
            <a:solidFill>
              <a:srgbClr val="3465a4"/>
            </a:solidFill>
          </a:ln>
        </p:spPr>
        <p:style>
          <a:lnRef idx="0"/>
          <a:fillRef idx="0"/>
          <a:effectRef idx="0"/>
          <a:fontRef idx="minor"/>
        </p:style>
      </p:sp>
      <p:sp>
        <p:nvSpPr>
          <p:cNvPr id="64" name=""/>
          <p:cNvSpPr/>
          <p:nvPr/>
        </p:nvSpPr>
        <p:spPr>
          <a:xfrm>
            <a:off x="7086600" y="2659680"/>
            <a:ext cx="2286000" cy="1142640"/>
          </a:xfrm>
          <a:prstGeom prst="rect">
            <a:avLst/>
          </a:prstGeom>
          <a:solidFill>
            <a:srgbClr val="666666">
              <a:alpha val="89000"/>
            </a:srgbClr>
          </a:solidFill>
          <a:ln w="0">
            <a:solidFill>
              <a:srgbClr val="3465a4"/>
            </a:solidFill>
          </a:ln>
        </p:spPr>
        <p:style>
          <a:lnRef idx="0"/>
          <a:fillRef idx="0"/>
          <a:effectRef idx="0"/>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2025-11-03T02:47:01Z</dcterms:created>
  <dc:creator/>
  <dc:description/>
  <dc:language>en-US</dc:language>
  <cp:lastModifiedBy/>
  <dcterms:modified xsi:type="dcterms:W3CDTF">2025-11-03T03:16:46Z</dcterms:modified>
  <cp:revision>1</cp:revision>
  <dc:subject/>
  <dc:title/>
</cp:coreProperties>
</file>